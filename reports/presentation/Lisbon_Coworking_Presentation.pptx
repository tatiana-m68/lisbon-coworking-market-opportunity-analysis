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9a99e7ceba49ff" /><Relationship Type="http://schemas.openxmlformats.org/officeDocument/2006/relationships/extended-properties" Target="/docProps/app.xml" Id="R3c7f5e0b20ad4a83" /><Relationship Type="http://schemas.openxmlformats.org/officeDocument/2006/relationships/officeDocument" Target="/ppt/presentation.xml" Id="Rf5d295ebaac74a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52894723444414"/>
  </p:sldMasterIdLst>
  <p:notesMasterIdLst>
    <p:notesMasterId xmlns:r="http://schemas.openxmlformats.org/officeDocument/2006/relationships" r:id="R2220ed78a59e4753"/>
  </p:notesMasterIdLst>
  <p:sldIdLst>
    <p:sldId xmlns:r="http://schemas.openxmlformats.org/officeDocument/2006/relationships" id="256" r:id="Rb2d5475d19f9477e"/>
    <p:sldId xmlns:r="http://schemas.openxmlformats.org/officeDocument/2006/relationships" id="257" r:id="Rc100372162114f6a"/>
    <p:sldId xmlns:r="http://schemas.openxmlformats.org/officeDocument/2006/relationships" id="258" r:id="Rd8b63efae35c4a0a"/>
    <p:sldId xmlns:r="http://schemas.openxmlformats.org/officeDocument/2006/relationships" id="259" r:id="R54552e0755354886"/>
    <p:sldId xmlns:r="http://schemas.openxmlformats.org/officeDocument/2006/relationships" id="260" r:id="R01e7fe1a47a44554"/>
    <p:sldId xmlns:r="http://schemas.openxmlformats.org/officeDocument/2006/relationships" id="261" r:id="R29f9aef2009e4b4f"/>
    <p:sldId xmlns:r="http://schemas.openxmlformats.org/officeDocument/2006/relationships" id="262" r:id="R840d72f3596f4ba1"/>
    <p:sldId xmlns:r="http://schemas.openxmlformats.org/officeDocument/2006/relationships" id="263" r:id="R4835579988334f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92ce50d10d4334" /><Relationship Type="http://schemas.openxmlformats.org/officeDocument/2006/relationships/slideMaster" Target="/ppt/slideMasters/slideMaster1.xml" Id="R7652894723444414" /><Relationship Type="http://schemas.openxmlformats.org/officeDocument/2006/relationships/notesMaster" Target="/ppt/notesMasters/notesMaster1.xml" Id="R2220ed78a59e4753" /><Relationship Type="http://schemas.openxmlformats.org/officeDocument/2006/relationships/presProps" Target="/ppt/presProps.xml" Id="R362d126333864006" /><Relationship Type="http://schemas.openxmlformats.org/officeDocument/2006/relationships/tableStyles" Target="/ppt/tableStyles.xml" Id="Re9a28c4a98354a31" /><Relationship Type="http://schemas.openxmlformats.org/officeDocument/2006/relationships/slide" Target="/ppt/slides/slide1.xml" Id="Rb2d5475d19f9477e" /><Relationship Type="http://schemas.openxmlformats.org/officeDocument/2006/relationships/slide" Target="/ppt/slides/slide2.xml" Id="Rc100372162114f6a" /><Relationship Type="http://schemas.openxmlformats.org/officeDocument/2006/relationships/slide" Target="/ppt/slides/slide3.xml" Id="Rd8b63efae35c4a0a" /><Relationship Type="http://schemas.openxmlformats.org/officeDocument/2006/relationships/slide" Target="/ppt/slides/slide4.xml" Id="R54552e0755354886" /><Relationship Type="http://schemas.openxmlformats.org/officeDocument/2006/relationships/slide" Target="/ppt/slides/slide5.xml" Id="R01e7fe1a47a44554" /><Relationship Type="http://schemas.openxmlformats.org/officeDocument/2006/relationships/slide" Target="/ppt/slides/slide6.xml" Id="R29f9aef2009e4b4f" /><Relationship Type="http://schemas.openxmlformats.org/officeDocument/2006/relationships/slide" Target="/ppt/slides/slide7.xml" Id="R840d72f3596f4ba1" /><Relationship Type="http://schemas.openxmlformats.org/officeDocument/2006/relationships/slide" Target="/ppt/slides/slide8.xml" Id="R4835579988334f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b066ffd50540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83c3c3075d4750" /><Relationship Type="http://schemas.openxmlformats.org/officeDocument/2006/relationships/notesMaster" Target="/ppt/notesMasters/notesMaster1.xml" Id="R2464815c4d374d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3df1ce493d4d30" /><Relationship Type="http://schemas.openxmlformats.org/officeDocument/2006/relationships/notesMaster" Target="/ppt/notesMasters/notesMaster1.xml" Id="Rc8a726203bd843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e1744fe4fd4aa6" /><Relationship Type="http://schemas.openxmlformats.org/officeDocument/2006/relationships/notesMaster" Target="/ppt/notesMasters/notesMaster1.xml" Id="Rfb58bfc14bcf4d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1e0af1fda045c1" /><Relationship Type="http://schemas.openxmlformats.org/officeDocument/2006/relationships/notesMaster" Target="/ppt/notesMasters/notesMaster1.xml" Id="R81cefc2ec2ed40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df2ef0f34e456d" /><Relationship Type="http://schemas.openxmlformats.org/officeDocument/2006/relationships/notesMaster" Target="/ppt/notesMasters/notesMaster1.xml" Id="R25512cd67e5341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3f48b0aa2e43c1" /><Relationship Type="http://schemas.openxmlformats.org/officeDocument/2006/relationships/notesMaster" Target="/ppt/notesMasters/notesMaster1.xml" Id="R230dd5ab8f1b40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91d88bba474c94" /><Relationship Type="http://schemas.openxmlformats.org/officeDocument/2006/relationships/notesMaster" Target="/ppt/notesMasters/notesMaster1.xml" Id="R9e5721a022c64f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027551b08442e7" /><Relationship Type="http://schemas.openxmlformats.org/officeDocument/2006/relationships/notesMaster" Target="/ppt/notesMasters/notesMaster1.xml" Id="R9919ec6134d345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and decision scope.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README and docs/project_brief.md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 overview.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data/processed/coworking_locations.csv</a:t>
            </a:r>
          </a:p>
          <a:p xmlns:a="http://schemas.openxmlformats.org/drawingml/2006/main">
            <a:r>
              <a:t>- data/processed/parish_analysis_base.csv</a:t>
            </a:r>
          </a:p>
          <a:p xmlns:a="http://schemas.openxmlformats.org/drawingml/2006/main">
            <a:r>
              <a:t>- data/processed/commercial_rent_listings.csv</a:t>
            </a:r>
          </a:p>
          <a:p xmlns:a="http://schemas.openxmlformats.org/drawingml/2006/main">
            <a:r>
              <a:t>
- https://www.lisboa.pt/en/municipality/parishes
- https://commons.wikimedia.org/wiki/File:Lisboa_freguesias_2012.svg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public-source supply is uneven; counts are not a complete census.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reports/figures/02_coworking_supply_all_parishes.png</a:t>
            </a:r>
          </a:p>
          <a:p xmlns:a="http://schemas.openxmlformats.org/drawingml/2006/main">
            <a:r>
              <a:t>- reports/tables/parish_eda_summary.csv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top three scores are close, so the business interpretation is a shortlist.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reports/figures/10_rent_inclusive_shortlist.png</a:t>
            </a:r>
          </a:p>
          <a:p xmlns:a="http://schemas.openxmlformats.org/drawingml/2006/main">
            <a:r>
              <a:t>- reports/tables/rent_inclusive_pilot_ranking.csv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area reaches the shortlist for a different reason.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data/processed/parish_analysis_base.csv</a:t>
            </a:r>
          </a:p>
          <a:p xmlns:a="http://schemas.openxmlformats.org/drawingml/2006/main">
            <a:r>
              <a:t>- data/processed/commercial_rent_parish_summary.csv</a:t>
            </a:r>
          </a:p>
          <a:p xmlns:a="http://schemas.openxmlformats.org/drawingml/2006/main">
            <a:r>
              <a:t>- reports/tables/final_shortlist.csv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four charts use raw values and a zero baseline.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Areeiro SCR recommendation.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Business recommendations</a:t>
            </a:r>
          </a:p>
          <a:p xmlns:a="http://schemas.openxmlformats.org/drawingml/2006/main">
            <a:r>
              <a:t>- reports/tables/recommendation_evidence.csv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Lumiar and Arroios SCR recommendations.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Business recommendations</a:t>
            </a:r>
          </a:p>
          <a:p xmlns:a="http://schemas.openxmlformats.org/drawingml/2006/main">
            <a:r>
              <a:t>- reports/tables/recommendation_evidence.csv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Conclusion and local due-diligence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docs/methodology.md</a:t>
            </a:r>
          </a:p>
          <a:p xmlns:a="http://schemas.openxmlformats.org/drawingml/2006/main">
            <a:r>
              <a:t>- reports/tables/rent_inclusive_shortlist_sensitivity.csv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9e4b3e8c814f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0317f44aaa4314" /><Relationship Type="http://schemas.openxmlformats.org/officeDocument/2006/relationships/slideLayout" Target="/ppt/slideLayouts/slideLayout1.xml" Id="R819fed329b9048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9fed329b9048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e5c7f0ca44545" /><Relationship Type="http://schemas.openxmlformats.org/officeDocument/2006/relationships/notesSlide" Target="/ppt/notesSlides/notesSlide1.xml" Id="R8b7967ead33440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3fd4d69724263" /><Relationship Type="http://schemas.openxmlformats.org/officeDocument/2006/relationships/image" Target="/ppt/media/image.png" Id="R1768d6da12cb41c7" /><Relationship Type="http://schemas.openxmlformats.org/officeDocument/2006/relationships/notesSlide" Target="/ppt/notesSlides/notesSlide2.xml" Id="R2cb062a10e9140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ec0d1d9b44aaa" /><Relationship Type="http://schemas.openxmlformats.org/officeDocument/2006/relationships/image" Target="/ppt/media/image2.png" Id="R061b89e64c9d491b" /><Relationship Type="http://schemas.openxmlformats.org/officeDocument/2006/relationships/notesSlide" Target="/ppt/notesSlides/notesSlide3.xml" Id="R028c55008cc44f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2e0d7c1b547fe" /><Relationship Type="http://schemas.openxmlformats.org/officeDocument/2006/relationships/image" Target="/ppt/media/image3.png" Id="R50f67f0fb8b342f3" /><Relationship Type="http://schemas.openxmlformats.org/officeDocument/2006/relationships/notesSlide" Target="/ppt/notesSlides/notesSlide4.xml" Id="R7f005cf4ee8043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c2106110f431d" /><Relationship Type="http://schemas.openxmlformats.org/officeDocument/2006/relationships/image" Target="/ppt/media/image4.png" Id="R1922fa4d12394e39" /><Relationship Type="http://schemas.openxmlformats.org/officeDocument/2006/relationships/notesSlide" Target="/ppt/notesSlides/notesSlide5.xml" Id="Re648ce9b641644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f079c4d9d4665" /><Relationship Type="http://schemas.openxmlformats.org/officeDocument/2006/relationships/notesSlide" Target="/ppt/notesSlides/notesSlide6.xml" Id="R132334c6145948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fc8e92a6ec4360" /><Relationship Type="http://schemas.openxmlformats.org/officeDocument/2006/relationships/notesSlide" Target="/ppt/notesSlides/notesSlide7.xml" Id="R7584f6d30c184f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235d051c34c13" /><Relationship Type="http://schemas.openxmlformats.org/officeDocument/2006/relationships/notesSlide" Target="/ppt/notesSlides/notesSlide8.xml" Id="R3c10eb8f22eb4b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E8C8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105B0B-EC0D-4773-AD03-7F026127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3D8CA-2DEF-4100-AFBD-6D4B0865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7F3EB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7F3EB"/>
                </a:solidFill>
                <a:latin typeface="Calibri"/>
                <a:ea typeface="Calibri"/>
                <a:cs typeface="Calibri"/>
              </a:rPr>
              <a:t>LISBON COWORKING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E5455-5F70-4355-B35D-3AA9F0D5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85875"/>
            <a:ext cx="9144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Lisbon Coworking Market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Opportunity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4463E-3D73-4E9D-856C-46253F09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7F3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7F3EB"/>
                </a:solidFill>
                <a:latin typeface="Calibri"/>
                <a:ea typeface="Calibri"/>
                <a:cs typeface="Calibri"/>
              </a:rPr>
              <a:t>Research 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7B2D78-125F-434A-B002-41AE847E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8001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F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3EB08F-027E-48E0-972B-DA779CE7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19625"/>
            <a:ext cx="744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1313C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Which three Lisbon parishes should a coworking company study next?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42292-6416-42EE-995D-CFA6103D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436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FCFD8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Tatiana Krasilnikova</a:t>
            </a:r>
          </a:p>
        </p:txBody>
      </p:sp>
    </p:spTree>
    <p:extLst>
      <p:ext uri="{BB962C8B-B14F-4D97-AF65-F5344CB8AC3E}">
        <p14:creationId xmlns:p14="http://schemas.microsoft.com/office/powerpoint/2010/main" val="13140892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BDEBCE-F684-4277-82E9-19FC9453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E8C83"/>
                </a:solidFill>
              </a:defRPr>
            </a:pPr>
            <a:r>
              <a:rPr sz="975" b="1">
                <a:solidFill>
                  <a:srgbClr val="2E8C83"/>
                </a:solidFill>
              </a:rPr>
              <a:t>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334DCE-AADF-4E50-9613-E4D21526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21313C"/>
                </a:solidFill>
              </a:rPr>
              <a:t>The data compares all 24 Lisbon parishes (areas)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624CB-A97F-463C-84C6-8631E220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D0FA87-FE86-4702-94E3-E9B6D33C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E76F51"/>
                </a:solidFill>
              </a:defRPr>
            </a:pPr>
            <a:r>
              <a:rPr sz="4350" b="1">
                <a:solidFill>
                  <a:srgbClr val="E76F51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5C2BC-091A-4A8A-B8E8-B00DB206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1313C"/>
                </a:solidFill>
              </a:defRPr>
            </a:pPr>
            <a:r>
              <a:rPr sz="1425" b="1">
                <a:solidFill>
                  <a:srgbClr val="21313C"/>
                </a:solidFill>
              </a:rPr>
              <a:t>official parishes (areas)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46EE0-DEF6-467E-82B8-D7823004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09750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2E8C83"/>
                </a:solidFill>
              </a:defRPr>
            </a:pPr>
            <a:r>
              <a:rPr sz="4350" b="1">
                <a:solidFill>
                  <a:srgbClr val="2E8C83"/>
                </a:solidFill>
              </a:rPr>
              <a:t>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A9067-1E05-470D-8056-1C43D889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479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1313C"/>
                </a:solidFill>
              </a:defRPr>
            </a:pPr>
            <a:r>
              <a:rPr sz="1425" b="1">
                <a:solidFill>
                  <a:srgbClr val="21313C"/>
                </a:solidFill>
              </a:rPr>
              <a:t>verified active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21313C"/>
                </a:solidFill>
              </a:defRPr>
            </a:pPr>
            <a:r>
              <a:rPr sz="1425" b="1">
                <a:solidFill>
                  <a:srgbClr val="21313C"/>
                </a:solidFill>
              </a:rPr>
              <a:t>coworking locations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0F9033-B869-4E8A-AEF7-3493B2EF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2E8C83"/>
                </a:solidFill>
              </a:defRPr>
            </a:pPr>
            <a:r>
              <a:rPr sz="4350" b="1">
                <a:solidFill>
                  <a:srgbClr val="2E8C83"/>
                </a:solidFill>
              </a:rPr>
              <a:t>191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9B9749-23FD-4606-B566-10AFC0FD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1313C"/>
                </a:solidFill>
              </a:defRPr>
            </a:pPr>
            <a:r>
              <a:rPr sz="1425" b="1">
                <a:solidFill>
                  <a:srgbClr val="21313C"/>
                </a:solidFill>
              </a:rPr>
              <a:t>office rent listings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DC3619-2EC4-4D35-A3B2-D4051E73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09750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2E8C83"/>
                </a:solidFill>
              </a:defRPr>
            </a:pPr>
            <a:r>
              <a:rPr sz="4350" b="1">
                <a:solidFill>
                  <a:srgbClr val="2E8C83"/>
                </a:solidFill>
              </a:rPr>
              <a:t>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446D8-87D0-4F08-BB1E-26D0CCF9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479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1313C"/>
                </a:solidFill>
              </a:defRPr>
            </a:pPr>
            <a:r>
              <a:rPr sz="1425" b="1">
                <a:solidFill>
                  <a:srgbClr val="21313C"/>
                </a:solidFill>
              </a:rPr>
              <a:t>candidates with enough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21313C"/>
                </a:solidFill>
              </a:defRPr>
            </a:pPr>
            <a:r>
              <a:rPr sz="1425" b="1">
                <a:solidFill>
                  <a:srgbClr val="21313C"/>
                </a:solidFill>
              </a:rPr>
              <a:t>rent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E7BAC4-6F44-413C-A589-D4291311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0"/>
            <a:ext cx="10325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EFACA2-5CA2-4658-B016-B1AD3004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052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1313C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Public sources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74F2CA-32E6-47D6-BD46-1247E8C8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231B3C-B820-4D2E-852B-4FB9F747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05300"/>
            <a:ext cx="3238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Autofit/>
          </a:bodyPr>
          <a:lstStyle xmlns:a="http://schemas.openxmlformats.org/drawingml/2006/main"/>
          <a:p xmlns:a="http://schemas.openxmlformats.org/drawingml/2006/main">
            <a:pPr marL="18" indent="-12" algn="l">
              <a:spcAft>
                <a:spcPts val="5"/>
              </a:spcAft>
              <a:buChar char="•"/>
              <a:defRPr sz="1350">
                <a:solidFill>
                  <a:srgbClr val="21313C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Lisbon city data</a:t>
            </a:r>
          </a:p>
          <a:p xmlns:a="http://schemas.openxmlformats.org/drawingml/2006/main">
            <a:pPr marL="18" indent="-12" algn="l">
              <a:spcAft>
                <a:spcPts val="5"/>
              </a:spcAft>
              <a:buChar char="•"/>
              <a:defRPr sz="1350">
                <a:solidFill>
                  <a:srgbClr val="21313C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INE Census</a:t>
            </a:r>
          </a:p>
          <a:p xmlns:a="http://schemas.openxmlformats.org/drawingml/2006/main">
            <a:pPr marL="18" indent="-12" algn="l">
              <a:spcAft>
                <a:spcPts val="5"/>
              </a:spcAft>
              <a:buChar char="•"/>
              <a:defRPr sz="1350">
                <a:solidFill>
                  <a:srgbClr val="21313C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OpenStreetMap</a:t>
            </a:r>
          </a:p>
          <a:p xmlns:a="http://schemas.openxmlformats.org/drawingml/2006/main">
            <a:pPr marL="18" indent="-12" algn="l">
              <a:spcAft>
                <a:spcPts val="5"/>
              </a:spcAft>
              <a:buChar char="•"/>
              <a:defRPr sz="1350">
                <a:solidFill>
                  <a:srgbClr val="21313C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Official coworking websites</a:t>
            </a:r>
          </a:p>
          <a:p xmlns:a="http://schemas.openxmlformats.org/drawingml/2006/main">
            <a:pPr marL="18" indent="-12" algn="l">
              <a:spcAft>
                <a:spcPts val="5"/>
              </a:spcAft>
              <a:buChar char="•"/>
              <a:defRPr sz="1350">
                <a:solidFill>
                  <a:srgbClr val="21313C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Public office listings (Idealista)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07AEAE-8354-4119-B217-2D919F3D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FD6C64-331F-4230-BABF-5E6408ED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76950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0717B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0717B"/>
                </a:solidFill>
                <a:latin typeface="Calibri"/>
                <a:ea typeface="Calibri"/>
                <a:cs typeface="Calibri"/>
              </a:rPr>
              <a:t>24 official parishes with defined boundaries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3C9761-38D9-44D2-B100-E385410F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1313C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What we compare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E4D1EE-FB48-485E-94EF-A6C0F5D7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720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99DFA3-6488-4807-ACC5-CE079A6F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05300"/>
            <a:ext cx="3714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Autofit/>
          </a:bodyPr>
          <a:lstStyle xmlns:a="http://schemas.openxmlformats.org/drawingml/2006/main"/>
          <a:p xmlns:a="http://schemas.openxmlformats.org/drawingml/2006/main">
            <a:pPr marL="18" indent="-12" algn="l">
              <a:spcAft>
                <a:spcPts val="5"/>
              </a:spcAft>
              <a:buChar char="•"/>
              <a:defRPr sz="1350">
                <a:solidFill>
                  <a:srgbClr val="21313C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Demand</a:t>
            </a:r>
          </a:p>
          <a:p xmlns:a="http://schemas.openxmlformats.org/drawingml/2006/main">
            <a:pPr marL="18" indent="-12" algn="l">
              <a:spcAft>
                <a:spcPts val="5"/>
              </a:spcAft>
              <a:buChar char="•"/>
              <a:defRPr sz="1350">
                <a:solidFill>
                  <a:srgbClr val="21313C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Public transport</a:t>
            </a:r>
          </a:p>
          <a:p xmlns:a="http://schemas.openxmlformats.org/drawingml/2006/main">
            <a:pPr marL="18" indent="-12" algn="l">
              <a:spcAft>
                <a:spcPts val="5"/>
              </a:spcAft>
              <a:buChar char="•"/>
              <a:defRPr sz="1350">
                <a:solidFill>
                  <a:srgbClr val="21313C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Coworking competition</a:t>
            </a:r>
          </a:p>
          <a:p xmlns:a="http://schemas.openxmlformats.org/drawingml/2006/main">
            <a:pPr marL="18" indent="-12" algn="l">
              <a:spcAft>
                <a:spcPts val="5"/>
              </a:spcAft>
              <a:buChar char="•"/>
              <a:defRPr sz="1350">
                <a:solidFill>
                  <a:srgbClr val="21313C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Office rent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0B2916-E02B-477A-B568-657E11FB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43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4748DC-78D2-4F9E-9C51-2CA55D24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6262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0717B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0717B"/>
                </a:solidFill>
                <a:latin typeface="Calibri"/>
                <a:ea typeface="Calibri"/>
                <a:cs typeface="Calibri"/>
              </a:rPr>
              <a:t>Rent was added after the first three-factor screening.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8ACC38-4887-405C-BCFB-C249763C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17B"/>
                </a:solidFill>
              </a:defRPr>
            </a:pPr>
            <a:r>
              <a:rPr sz="900" b="1">
                <a:solidFill>
                  <a:srgbClr val="60717B"/>
                </a:solidFill>
              </a:rPr>
              <a:t>02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68d6da12cb41c7"/>
          <a:stretch xmlns:a="http://schemas.openxmlformats.org/drawingml/2006/main"/>
        </p:blipFill>
        <p:spPr>
          <a:xfrm xmlns:a="http://schemas.openxmlformats.org/drawingml/2006/main">
            <a:off x="916900" y="3886200"/>
            <a:ext cx="2061925" cy="2152650"/>
          </a:xfrm>
          <a:prstGeom xmlns:a="http://schemas.openxmlformats.org/drawingml/2006/main" prst="rect">
            <a:avLst/>
          </a:prstGeom>
        </p:spPr>
      </p:pic>
      <p:sp>
        <p:nvSpPr>
          <p:cNvPr id="26" name="map-muted-overlay">
            <a:extLst xmlns:a="http://schemas.openxmlformats.org/drawingml/2006/main">
              <a:ext uri="{FF2B5EF4-FFF2-40B4-BE49-F238E27FC236}">
                <a16:creationId xmlns:a16="http://schemas.microsoft.com/office/drawing/2014/main" id="{BFF7E737-CA59-4ECF-AF06-706D091F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2333625" cy="21526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619855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65AD7F-F704-4764-8230-C0D04597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E8C83"/>
                </a:solidFill>
              </a:defRPr>
            </a:pPr>
            <a:r>
              <a:rPr sz="975" b="1">
                <a:solidFill>
                  <a:srgbClr val="2E8C83"/>
                </a:solidFill>
              </a:rPr>
              <a:t>FINDING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0200C-036D-4EC3-92C0-1D117E44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21313C"/>
                </a:solidFill>
              </a:rPr>
              <a:t>Coworking supply is uneven across Lisbon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C8208-EDAC-495C-884F-68AB1730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1b89e64c9d491b"/>
          <a:stretch xmlns:a="http://schemas.openxmlformats.org/drawingml/2006/main"/>
        </p:blipFill>
        <p:spPr>
          <a:xfrm xmlns:a="http://schemas.openxmlformats.org/drawingml/2006/main" flipH="0" flipV="0">
            <a:off x="945216" y="1504950"/>
            <a:ext cx="5558118" cy="4953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56939-6B03-4413-9717-FF81E6D3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09750"/>
            <a:ext cx="40005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CED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A2519-4490-487A-864B-0207418B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431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21313C"/>
                </a:solidFill>
              </a:rPr>
              <a:t>What the data shows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C47A1B-62A7-4A6C-9354-C4D44E6D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003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E76F5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E76F51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8E7AE2-59F9-43A9-992B-1A27A123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1313C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Olivais: no verified active coworking location found.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35A411-CDD0-42F9-BC48-43491288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14750"/>
            <a:ext cx="266700" cy="3619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E76F5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E76F51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41B457-260D-43EA-94F3-2D897AFE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1313C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Top supply: Santo António 9, Arroios 8 and Alvalade 7.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3F155B-69DC-497A-A7BA-3ECD09F8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29150"/>
            <a:ext cx="266700" cy="3619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E76F5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E76F51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1AE003-BA6F-4456-AEFF-7061A9D2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529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1313C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Counts show verified locations found, not a complete market census.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A1EF5B-1B89-4103-B8C4-87E60064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17B"/>
                </a:solidFill>
              </a:defRPr>
            </a:pPr>
            <a:r>
              <a:rPr sz="900" b="1">
                <a:solidFill>
                  <a:srgbClr val="60717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264460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E16498-2A9D-49D4-9E3F-DD8250E9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E8C83"/>
                </a:solidFill>
              </a:defRPr>
            </a:pPr>
            <a:r>
              <a:rPr sz="975" b="1">
                <a:solidFill>
                  <a:srgbClr val="2E8C83"/>
                </a:solidFill>
              </a:rPr>
              <a:t>FINDING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9B4805-B48C-4DB3-BB54-241518A7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21313C"/>
                </a:solidFill>
              </a:rPr>
              <a:t>Three areas form a close Opportunity Score shortlist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F8239B-16C4-497F-B0CD-515B7A79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f67f0fb8b342f3"/>
          <a:stretch xmlns:a="http://schemas.openxmlformats.org/drawingml/2006/main"/>
        </p:blipFill>
        <p:spPr>
          <a:xfrm xmlns:a="http://schemas.openxmlformats.org/drawingml/2006/main" flipH="0" flipV="0">
            <a:off x="874262" y="1428750"/>
            <a:ext cx="7395476" cy="5095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593F5-90A9-460E-9D4D-8AF99C29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66900"/>
            <a:ext cx="25717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8D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E15D34-E0B2-4CDF-80B0-1969A796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90750"/>
            <a:ext cx="1847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E76F51"/>
                </a:solidFill>
              </a:defRPr>
            </a:pPr>
            <a:r>
              <a:rPr sz="4350" b="1">
                <a:solidFill>
                  <a:srgbClr val="E76F51"/>
                </a:solidFill>
              </a:rPr>
              <a:t>TOP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9674F3-3195-4C76-8BBB-89EE5407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1465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21313C"/>
                </a:solidFill>
              </a:rPr>
              <a:t>CLOSE SHORTLIST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C62E4A-6E23-4A89-A6AE-EA95013C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385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1313C"/>
                </a:solidFill>
              </a:defRPr>
            </a:pPr>
            <a:r>
              <a:rPr sz="1650" b="1">
                <a:solidFill>
                  <a:srgbClr val="21313C"/>
                </a:solidFill>
              </a:rPr>
              <a:t>67.9-69.3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3A5905-3F7F-49D1-A705-8E9EECA3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762500"/>
            <a:ext cx="2324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0717B"/>
                </a:solidFill>
              </a:defRPr>
            </a:pPr>
            <a:r>
              <a:rPr sz="1500" b="0">
                <a:solidFill>
                  <a:srgbClr val="60717B"/>
                </a:solidFill>
              </a:rPr>
              <a:t>Only 1.35 points separate Areeiro, Arroios and Lumiar.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B83DD9-EFBD-465C-9D29-EEC133CE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17B"/>
                </a:solidFill>
              </a:defRPr>
            </a:pPr>
            <a:r>
              <a:rPr sz="900" b="1">
                <a:solidFill>
                  <a:srgbClr val="60717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382604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1B40F2-FEAD-437F-9F7A-D9484537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E8C83"/>
                </a:solidFill>
              </a:defRPr>
            </a:pPr>
            <a:r>
              <a:rPr sz="975" b="1">
                <a:solidFill>
                  <a:srgbClr val="2E8C83"/>
                </a:solidFill>
              </a:rPr>
              <a:t>FINDING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BBCE0-0338-48AF-98C0-99592053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21313C"/>
                </a:solidFill>
              </a:rPr>
              <a:t>Four measures show different strengths in each area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59055-9D66-45FE-9574-79AC7639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22fa4d12394e39"/>
          <a:stretch xmlns:a="http://schemas.openxmlformats.org/drawingml/2006/main"/>
        </p:blipFill>
        <p:spPr>
          <a:xfrm xmlns:a="http://schemas.openxmlformats.org/drawingml/2006/main" flipH="0" flipV="0">
            <a:off x="516396" y="1715702"/>
            <a:ext cx="7615908" cy="447434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0EA80-245F-4676-84D2-3863A3C4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8097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21313C"/>
                </a:solidFill>
              </a:rPr>
              <a:t>Three profiles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35BE7-2559-43FC-9E86-2CE3A2C1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5717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CA5990-E2AB-413B-965F-7194DD27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765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1313C"/>
                </a:solidFill>
              </a:defRPr>
            </a:pPr>
            <a:r>
              <a:rPr sz="1575" b="0">
                <a:solidFill>
                  <a:srgbClr val="21313C"/>
                </a:solidFill>
              </a:rPr>
              <a:t>Areeiro: balanced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3A02CF-0775-4E22-8286-CA0E3349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2004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2F01CD-2AE4-4095-9257-324A83B5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051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1313C"/>
                </a:solidFill>
              </a:defRPr>
            </a:pPr>
            <a:r>
              <a:rPr sz="1575" b="0">
                <a:solidFill>
                  <a:srgbClr val="21313C"/>
                </a:solidFill>
              </a:rPr>
              <a:t>Arroios: strong demand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81F629-ADEF-464D-8CA9-7C7BF2D4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290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5B5946-EB41-4345-9FF0-8E3A268B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338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1313C"/>
                </a:solidFill>
              </a:defRPr>
            </a:pPr>
            <a:r>
              <a:rPr sz="1575" b="0">
                <a:solidFill>
                  <a:srgbClr val="21313C"/>
                </a:solidFill>
              </a:rPr>
              <a:t>Lumiar: lower rent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5952B6-F8C5-4B09-A26F-57FA956A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810125"/>
            <a:ext cx="2476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8D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98E3BF-1783-488B-843C-AE0CE543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1490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76F51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E76F51"/>
                </a:solidFill>
                <a:latin typeface="Calibri"/>
                <a:ea typeface="Calibri"/>
                <a:cs typeface="Calibri"/>
              </a:rPr>
              <a:t>No area is strongest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E76F51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E76F51"/>
                </a:solidFill>
                <a:latin typeface="Calibri"/>
                <a:ea typeface="Calibri"/>
                <a:cs typeface="Calibri"/>
              </a:rPr>
              <a:t>on every factor.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0DA0D9-4A16-4891-AB9F-D5DA46F9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17B"/>
                </a:solidFill>
              </a:defRPr>
            </a:pPr>
            <a:r>
              <a:rPr sz="900" b="1">
                <a:solidFill>
                  <a:srgbClr val="60717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326846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98E6FE-2FC4-46C9-B919-9AA06000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E8C83"/>
                </a:solidFill>
              </a:defRPr>
            </a:pPr>
            <a:r>
              <a:rPr sz="975" b="1">
                <a:solidFill>
                  <a:srgbClr val="2E8C83"/>
                </a:solidFill>
              </a:rPr>
              <a:t>RECOMMENDATION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A2684F-0F95-4582-9555-B59A7D33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21313C"/>
                </a:solidFill>
              </a:rPr>
              <a:t>Areeiro offers the clearest balance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3D1A2-987B-4D94-9B1B-6CA4B55F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2F6AD-10D0-4A44-B0D2-A49AD272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876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2E8C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68E236-8E6E-433F-BA1C-BBB99E12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76425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8384A-60A7-446A-8B40-E8D342E3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7145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21313C"/>
                </a:solidFill>
              </a:rPr>
              <a:t>Situation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4A1FE-A9E8-46B6-871D-3EFAEE60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057400"/>
            <a:ext cx="895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Autofit/>
          </a:bodyPr>
          <a:lstStyle xmlns:a="http://schemas.openxmlformats.org/drawingml/2006/main"/>
          <a:p xmlns:a="http://schemas.openxmlformats.org/drawingml/2006/main">
            <a:pPr marL="18" indent="-12" algn="l">
              <a:spcAft>
                <a:spcPts val="5"/>
              </a:spcAft>
              <a:buChar char="•"/>
              <a:defRPr sz="1500">
                <a:solidFill>
                  <a:srgbClr val="21313C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Demand: </a:t>
            </a:r>
            <a:r>
              <a:rPr sz="1500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85.4 — strong</a:t>
            </a:r>
          </a:p>
          <a:p xmlns:a="http://schemas.openxmlformats.org/drawingml/2006/main">
            <a:pPr marL="18" indent="-12" algn="l">
              <a:spcAft>
                <a:spcPts val="5"/>
              </a:spcAft>
              <a:buChar char="•"/>
              <a:defRPr sz="1500">
                <a:solidFill>
                  <a:srgbClr val="21313C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Transport: </a:t>
            </a:r>
            <a:r>
              <a:rPr sz="1500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73.3 — good</a:t>
            </a:r>
          </a:p>
          <a:p xmlns:a="http://schemas.openxmlformats.org/drawingml/2006/main">
            <a:pPr marL="18" indent="-12" algn="l">
              <a:spcAft>
                <a:spcPts val="0"/>
              </a:spcAft>
              <a:buChar char="•"/>
              <a:defRPr sz="1500">
                <a:solidFill>
                  <a:srgbClr val="21313C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Competition: </a:t>
            </a:r>
            <a:r>
              <a:rPr sz="1500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2 verified coworking locations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8D6B38-D705-4F63-ADE3-539E0084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876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2E8C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605DBB-A0B2-427A-B17B-889E0BA4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F0EA2C-6FA3-4EF2-BB19-0384DED7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0956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21313C"/>
                </a:solidFill>
              </a:rPr>
              <a:t>Complication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2FCDD5-D72E-49DD-B4D1-81B56115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429000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7"/>
              </a:spcAft>
              <a:buNone/>
              <a:defRPr sz="1575">
                <a:solidFill>
                  <a:srgbClr val="21313C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Rent: €17.73/m² — highest of the three</a:t>
            </a:r>
          </a:p>
          <a:p xmlns:a="http://schemas.openxmlformats.org/drawingml/2006/main">
            <a:pPr algn="l">
              <a:buNone/>
              <a:defRPr sz="1575">
                <a:solidFill>
                  <a:srgbClr val="21313C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€2.02/m² above Lumiar and only €0.23 above Arroios.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8D86F2-D8FC-48B8-A477-B3971ABF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876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DC9177-F754-4936-8B0A-4D78BA45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818A29-8B10-466B-8B43-F0A2AC26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4767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21313C"/>
                </a:solidFill>
              </a:rPr>
              <a:t>Resolution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8B5110-776C-4745-BFA0-FD678A79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819650"/>
            <a:ext cx="8953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3"/>
              </a:spcAft>
              <a:buNone/>
            </a:pPr>
            <a:r>
              <a:rPr sz="2000" b="1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Four-week site comparison</a:t>
            </a:r>
          </a:p>
          <a:p xmlns:a="http://schemas.openxmlformats.org/drawingml/2006/main">
            <a:pPr marL="18" indent="-12">
              <a:spcAft>
                <a:spcPts val="1"/>
              </a:spcAft>
              <a:buChar char="•"/>
            </a:pPr>
            <a:r>
              <a:rPr sz="2000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Suitable spaces in Areeiro</a:t>
            </a:r>
          </a:p>
          <a:p xmlns:a="http://schemas.openxmlformats.org/drawingml/2006/main">
            <a:pPr marL="18" indent="-12">
              <a:spcAft>
                <a:spcPts val="1"/>
              </a:spcAft>
              <a:buChar char="•"/>
            </a:pPr>
            <a:r>
              <a:rPr sz="2000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Rent, lease terms and nearby competition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94C8EC-0A6D-4FD9-96D7-4E2FDE08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17B"/>
                </a:solidFill>
              </a:defRPr>
            </a:pPr>
            <a:r>
              <a:rPr sz="900" b="1">
                <a:solidFill>
                  <a:srgbClr val="60717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118282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D6D7C0-F697-4886-BBD9-FC5F8A46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E8C83"/>
                </a:solidFill>
              </a:defRPr>
            </a:pPr>
            <a:r>
              <a:rPr sz="975" b="1">
                <a:solidFill>
                  <a:srgbClr val="2E8C83"/>
                </a:solidFill>
              </a:rPr>
              <a:t>RECOMMENDATIONS 2 AND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F6B278-C7DC-4913-A584-3662CBC5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1313C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Lumiar lowers rent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79FE8-B2C2-4EB7-B0C8-850DC3A0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6C9EF-1956-4028-AFD4-AECB79B0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51435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DCED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B9D15-B2E4-4AAA-874F-B505149E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742950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1313C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Arroios offers stronger demand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8BF747-F752-4E1A-96FC-FDCB99B4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383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8C83"/>
                </a:solidFill>
              </a:defRPr>
            </a:pPr>
            <a:r>
              <a:rPr sz="1350" b="1">
                <a:solidFill>
                  <a:srgbClr val="2E8C83"/>
                </a:solidFill>
              </a:rPr>
              <a:t>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A2F02C-BC53-41A4-A83E-01C06B58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24050"/>
            <a:ext cx="4000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"/>
              </a:spcAft>
              <a:buNone/>
              <a:defRPr sz="1350">
                <a:solidFill>
                  <a:srgbClr val="21313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Rent: </a:t>
            </a:r>
            <a:r>
              <a:rPr sz="1350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€15.71/m² — lowest</a:t>
            </a:r>
          </a:p>
          <a:p xmlns:a="http://schemas.openxmlformats.org/drawingml/2006/main">
            <a:pPr algn="l">
              <a:spcAft>
                <a:spcPts val="5"/>
              </a:spcAft>
              <a:buNone/>
              <a:defRPr sz="1350">
                <a:solidFill>
                  <a:srgbClr val="21313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Transport: 67.5</a:t>
            </a:r>
            <a:r>
              <a:rPr sz="1350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 — good</a:t>
            </a:r>
          </a:p>
          <a:p xmlns:a="http://schemas.openxmlformats.org/drawingml/2006/main">
            <a:pPr algn="l">
              <a:spcAft>
                <a:spcPts val="0"/>
              </a:spcAft>
              <a:buNone/>
              <a:defRPr sz="1350">
                <a:solidFill>
                  <a:srgbClr val="21313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Competition: </a:t>
            </a:r>
            <a:r>
              <a:rPr sz="1350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1 verified location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1DFDA5-6A8B-4283-B20A-15F67E9E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8C83"/>
                </a:solidFill>
              </a:defRPr>
            </a:pPr>
            <a:r>
              <a:rPr sz="1350" b="1">
                <a:solidFill>
                  <a:srgbClr val="2E8C83"/>
                </a:solidFill>
              </a:rPr>
              <a:t>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62B2F1-4CD9-4D97-AB1C-7E183AA3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  <a:defRPr sz="1350">
                <a:solidFill>
                  <a:srgbClr val="21313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Demand: </a:t>
            </a:r>
            <a:r>
              <a:rPr sz="1350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43.3 — much lower than in Areeiro or Arroios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2F13C6-5FB5-44CD-80BE-DCD9913B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8C83"/>
                </a:solidFill>
              </a:defRPr>
            </a:pPr>
            <a:r>
              <a:rPr sz="1350" b="1">
                <a:solidFill>
                  <a:srgbClr val="2E8C83"/>
                </a:solidFill>
              </a:rPr>
              <a:t>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DE666D-120C-427B-B0E7-6DDDC053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6240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3"/>
              </a:spcAft>
              <a:buNone/>
            </a:pPr>
            <a:r>
              <a:rPr sz="1800" b="1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Two-week demand check</a:t>
            </a:r>
          </a:p>
          <a:p xmlns:a="http://schemas.openxmlformats.org/drawingml/2006/main">
            <a:pPr marL="18" indent="-12">
              <a:spcAft>
                <a:spcPts val="1"/>
              </a:spcAft>
              <a:buChar char="•"/>
            </a:pPr>
            <a:r>
              <a:rPr sz="1800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Daytime workers and students</a:t>
            </a:r>
          </a:p>
          <a:p xmlns:a="http://schemas.openxmlformats.org/drawingml/2006/main">
            <a:pPr marL="18" indent="-12">
              <a:spcAft>
                <a:spcPts val="1"/>
              </a:spcAft>
              <a:buChar char="•"/>
            </a:pPr>
            <a:r>
              <a:rPr sz="1800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Then compare suitable spaces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E3CE07-3B02-418B-880B-CF4B1387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76400"/>
            <a:ext cx="51435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8D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BCA174-AC72-4E11-9BF5-B5D01279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812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324D"/>
                </a:solidFill>
              </a:defRPr>
            </a:pPr>
            <a:r>
              <a:rPr sz="2325" b="1">
                <a:solidFill>
                  <a:srgbClr val="17324D"/>
                </a:solidFill>
              </a:rP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5E3528-A390-43F5-A037-E379A04E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383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6F51"/>
                </a:solidFill>
              </a:defRPr>
            </a:pPr>
            <a:r>
              <a:rPr sz="1350" b="1">
                <a:solidFill>
                  <a:srgbClr val="E76F51"/>
                </a:solidFill>
              </a:rPr>
              <a:t>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78E6C3-2E59-42BE-B9B0-063EEE4F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24050"/>
            <a:ext cx="4000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"/>
              </a:spcAft>
              <a:buNone/>
              <a:defRPr sz="1350">
                <a:solidFill>
                  <a:srgbClr val="21313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Demand: </a:t>
            </a:r>
            <a:r>
              <a:rPr sz="1350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94.2 — strongest</a:t>
            </a:r>
          </a:p>
          <a:p xmlns:a="http://schemas.openxmlformats.org/drawingml/2006/main">
            <a:pPr algn="l">
              <a:spcAft>
                <a:spcPts val="5"/>
              </a:spcAft>
              <a:buNone/>
              <a:defRPr sz="1350">
                <a:solidFill>
                  <a:srgbClr val="21313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Transport: </a:t>
            </a:r>
            <a:r>
              <a:rPr sz="1350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95.0 — best</a:t>
            </a:r>
          </a:p>
          <a:p xmlns:a="http://schemas.openxmlformats.org/drawingml/2006/main">
            <a:pPr algn="l">
              <a:spcAft>
                <a:spcPts val="0"/>
              </a:spcAft>
              <a:buNone/>
              <a:defRPr sz="1350">
                <a:solidFill>
                  <a:srgbClr val="21313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Competition: </a:t>
            </a:r>
            <a:r>
              <a:rPr sz="1350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8 verified locations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BAC72B-1516-4053-8869-99CCE2C7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6F51"/>
                </a:solidFill>
              </a:defRPr>
            </a:pPr>
            <a:r>
              <a:rPr sz="1350" b="1">
                <a:solidFill>
                  <a:srgbClr val="E76F51"/>
                </a:solidFill>
              </a:rPr>
              <a:t>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5C9224-DF0C-425D-A6F4-1194DA3B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432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  <a:defRPr sz="1350">
                <a:solidFill>
                  <a:srgbClr val="21313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Competition: </a:t>
            </a:r>
            <a:r>
              <a:rPr sz="1350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highest of the three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D0D6B9-02DD-47A0-95A9-BB5D0500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6F51"/>
                </a:solidFill>
              </a:defRPr>
            </a:pPr>
            <a:r>
              <a:rPr sz="1350" b="1">
                <a:solidFill>
                  <a:srgbClr val="E76F51"/>
                </a:solidFill>
              </a:rPr>
              <a:t>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A8F33E-75CE-41C5-8F8E-A8A00E5E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6240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3"/>
              </a:spcAft>
              <a:buNone/>
            </a:pPr>
            <a:r>
              <a:rPr sz="1800" b="1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Two-week competitor review</a:t>
            </a:r>
          </a:p>
          <a:p xmlns:a="http://schemas.openxmlformats.org/drawingml/2006/main">
            <a:pPr marL="18" indent="-12">
              <a:spcAft>
                <a:spcPts val="1"/>
              </a:spcAft>
              <a:buChar char="•"/>
            </a:pPr>
            <a:r>
              <a:rPr sz="1800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Prices, capacity and customer segments</a:t>
            </a:r>
          </a:p>
          <a:p xmlns:a="http://schemas.openxmlformats.org/drawingml/2006/main">
            <a:pPr marL="18" indent="-12">
              <a:spcAft>
                <a:spcPts val="1"/>
              </a:spcAft>
              <a:buChar char="•"/>
            </a:pPr>
            <a:r>
              <a:rPr sz="1800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Identify a clear market gap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1929EA-CC7C-4E44-98AA-3975054A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17B"/>
                </a:solidFill>
              </a:defRPr>
            </a:pPr>
            <a:r>
              <a:rPr sz="900" b="1">
                <a:solidFill>
                  <a:srgbClr val="60717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928134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CA7426-1769-45A8-90E9-A6A439FF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CEDEA"/>
                </a:solidFill>
              </a:defRPr>
            </a:pPr>
            <a:r>
              <a:rPr sz="1050" b="1">
                <a:solidFill>
                  <a:srgbClr val="2E8C83"/>
                </a:solidFill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59950-2A5A-429A-A2BF-B0299D2B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477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Three shortlisted Lisbon parishes to study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65F5E6-77BE-46BB-9C99-9FA5E55A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76600"/>
            <a:ext cx="3238500" cy="1924050"/>
          </a:xfrm>
          <a:prstGeom xmlns:a="http://schemas.openxmlformats.org/drawingml/2006/main" prst="roundRect">
            <a:avLst>
              <a:gd name="adj" fmla="val 8911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E8C8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9D8870-9924-4A42-A580-2F0295CE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62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76F51"/>
                </a:solidFill>
              </a:defRPr>
            </a:pPr>
            <a:r>
              <a:rPr sz="1500" b="1">
                <a:solidFill>
                  <a:srgbClr val="E76F51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1058B-79E1-480F-B4C6-3F57AF8D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336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Choose the business priority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49D679-737C-42AD-B8A4-02F8AE5D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62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76F51"/>
                </a:solidFill>
              </a:defRPr>
            </a:pPr>
            <a:r>
              <a:rPr sz="1500" b="1">
                <a:solidFill>
                  <a:srgbClr val="E76F51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67E5B0-2C33-4FF9-B33A-5BB33678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3375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Compare available spaces and lease terms in all three areas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741E97-175F-4C60-A388-BC6C9ECD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62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76F51"/>
                </a:solidFill>
              </a:defRPr>
            </a:pPr>
            <a:r>
              <a:rPr sz="1500" b="1">
                <a:solidFill>
                  <a:srgbClr val="E76F51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B991F6-CFA0-4F4D-A45E-B73187D7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8150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Study local demand and competitor offers in more detail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D8DC15-AEA2-4187-910A-38F5ECEE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62200"/>
            <a:ext cx="5334000" cy="6096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E8C8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B83AD8-706A-48E2-9562-7A4A0DBF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49555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1313C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Balance  ·  Lower rent  ·  Stronger demand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25A459-8AA5-41A3-975B-A5F20491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29000"/>
            <a:ext cx="276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8"/>
              </a:spcAft>
              <a:buNone/>
              <a:defRPr sz="1800">
                <a:solidFill>
                  <a:srgbClr val="21313C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STUDY NEXT</a:t>
            </a:r>
          </a:p>
          <a:p xmlns:a="http://schemas.openxmlformats.org/drawingml/2006/main">
            <a:pPr algn="ctr">
              <a:spcAft>
                <a:spcPts val="5"/>
              </a:spcAft>
              <a:buNone/>
              <a:defRPr sz="1800">
                <a:solidFill>
                  <a:srgbClr val="21313C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Areeiro</a:t>
            </a:r>
          </a:p>
          <a:p xmlns:a="http://schemas.openxmlformats.org/drawingml/2006/main">
            <a:pPr algn="ctr">
              <a:spcAft>
                <a:spcPts val="5"/>
              </a:spcAft>
              <a:buNone/>
              <a:defRPr sz="1800">
                <a:solidFill>
                  <a:srgbClr val="21313C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Arroios</a:t>
            </a:r>
          </a:p>
          <a:p xmlns:a="http://schemas.openxmlformats.org/drawingml/2006/main">
            <a:pPr algn="ctr">
              <a:buNone/>
              <a:defRPr sz="1800">
                <a:solidFill>
                  <a:srgbClr val="21313C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1313C"/>
                </a:solidFill>
                <a:latin typeface="Calibri"/>
                <a:ea typeface="Calibri"/>
                <a:cs typeface="Calibri"/>
              </a:rPr>
              <a:t>Lumiar</a:t>
            </a:r>
          </a:p>
        </p:txBody>
      </p:sp>
    </p:spTree>
    <p:extLst>
      <p:ext uri="{BB962C8B-B14F-4D97-AF65-F5344CB8AC3E}">
        <p14:creationId xmlns:p14="http://schemas.microsoft.com/office/powerpoint/2010/main" val="6366904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2026-08-19T15:23:59.8600000Z</dcterms:created>
  <dcterms:modified xsi:type="dcterms:W3CDTF">2026-08-19T15:23:59.8600000Z</dcterms:modified>
</coreProperties>
</file>